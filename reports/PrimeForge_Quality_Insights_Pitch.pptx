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</a:defRPr>
            </a:pPr>
            <a:r>
              <a:t>DS SPRINT – SKILL BASED ASSESSMENT 2 | USE CASE 24</a:t>
            </a:r>
          </a:p>
          <a:p>
            <a:pPr>
              <a:defRPr sz="3600" b="1">
                <a:solidFill>
                  <a:srgbClr val="1F4E79"/>
                </a:solidFill>
              </a:defRPr>
            </a:pPr>
            <a:r>
              <a:t>MANUFACTURING QUALITY INSIGHT</a:t>
            </a:r>
          </a:p>
          <a:p>
            <a:pPr>
              <a:defRPr sz="1600" i="1">
                <a:solidFill>
                  <a:srgbClr val="323232"/>
                </a:solidFill>
              </a:defRPr>
            </a:pPr>
            <a:r>
              <a:t>Understand Defects. Discover Process Patterns. Improve Quality.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Prepared by: Murari Dahal (Register No: 722824104146)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Department of Computer Science and Engineering | Sri Eshwar College of Engineering</a:t>
            </a:r>
          </a:p>
          <a:p>
            <a:pPr>
              <a:defRPr sz="1200">
                <a:solidFill>
                  <a:srgbClr val="2B5C8F"/>
                </a:solidFill>
              </a:defRPr>
            </a:pPr>
            <a:r>
              <a:t>Target Organization: PrimeForge Manufacturing Ltd. | Sector: Precision Engineered Components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DS SPRINT 2026 | CHALLENGE CH24</a:t>
            </a:r>
          </a:p>
          <a:p>
            <a:pPr>
              <a:defRPr sz="2200" b="1">
                <a:solidFill>
                  <a:srgbClr val="1F4E79"/>
                </a:solidFill>
              </a:defRPr>
            </a:pPr>
            <a:r>
              <a:t>Executive Context &amp; Business Dilemma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The Quality Challenge at PrimeForge</a:t>
            </a:r>
          </a:p>
          <a:p>
            <a:pPr>
              <a:spcBef>
                <a:spcPts val="1000"/>
              </a:spcBef>
              <a:defRPr b="1" sz="1200">
                <a:solidFill>
                  <a:srgbClr val="323232"/>
                </a:solidFill>
              </a:defRPr>
            </a:pPr>
            <a:r>
              <a:t>• High Scrap &amp; Defect Rates: </a:t>
            </a:r>
            <a:r>
              <a:rPr b="0"/>
              <a:t>Overall defect rate currently averages 7.02% across 1,250 monitored batches, causing high scrap costs and rework overhead.</a:t>
            </a:r>
          </a:p>
          <a:p>
            <a:pPr>
              <a:spcBef>
                <a:spcPts val="1000"/>
              </a:spcBef>
              <a:defRPr b="1" sz="1200">
                <a:solidFill>
                  <a:srgbClr val="323232"/>
                </a:solidFill>
              </a:defRPr>
            </a:pPr>
            <a:r>
              <a:t>• Multi-Stream Data Silos: </a:t>
            </a:r>
            <a:r>
              <a:rPr b="0"/>
              <a:t>Operations lacked unified traceability across production lines, machine telemetry, process thermodynamics, and raw materials.</a:t>
            </a:r>
          </a:p>
          <a:p>
            <a:pPr>
              <a:spcBef>
                <a:spcPts val="1000"/>
              </a:spcBef>
              <a:defRPr b="1" sz="1200">
                <a:solidFill>
                  <a:srgbClr val="323232"/>
                </a:solidFill>
              </a:defRPr>
            </a:pPr>
            <a:r>
              <a:t>• Core Business Question: </a:t>
            </a:r>
            <a:r>
              <a:rPr b="0"/>
              <a:t>'Which production conditions are associated with higher defect levels?'</a:t>
            </a:r>
          </a:p>
          <a:p>
            <a:pPr>
              <a:spcBef>
                <a:spcPts val="1000"/>
              </a:spcBef>
              <a:defRPr b="1" sz="1200">
                <a:solidFill>
                  <a:srgbClr val="323232"/>
                </a:solidFill>
              </a:defRPr>
            </a:pPr>
            <a:r>
              <a:t>• Goal of Assessment: </a:t>
            </a:r>
            <a:r>
              <a:rPr b="0"/>
              <a:t>Identify root process causes, train an ML risk detection model, and establish concrete priorities for defect reduction.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0" y="1463040"/>
            <a:ext cx="4754880" cy="1051560"/>
          </a:xfrm>
          <a:prstGeom prst="rect">
            <a:avLst/>
          </a:prstGeom>
          <a:solidFill>
            <a:srgbClr val="F5F7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155448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E79"/>
                </a:solidFill>
              </a:defRPr>
            </a:pPr>
            <a:r>
              <a:t>1,250  –  Batches Analyzed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Deduplicated production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2651760"/>
            <a:ext cx="4754880" cy="1051560"/>
          </a:xfrm>
          <a:prstGeom prst="rect">
            <a:avLst/>
          </a:prstGeom>
          <a:solidFill>
            <a:srgbClr val="F5F7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E79"/>
                </a:solidFill>
              </a:defRPr>
            </a:pPr>
            <a:r>
              <a:t>818,823  –  Components Produced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Full factory production volume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3840480"/>
            <a:ext cx="4754880" cy="1051560"/>
          </a:xfrm>
          <a:prstGeom prst="rect">
            <a:avLst/>
          </a:prstGeom>
          <a:solidFill>
            <a:srgbClr val="F5F7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39319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E79"/>
                </a:solidFill>
              </a:defRPr>
            </a:pPr>
            <a:r>
              <a:t>7.02%  –  Baseline Defect Rate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Target reduction to &lt;3.50%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5029200"/>
            <a:ext cx="4754880" cy="1051560"/>
          </a:xfrm>
          <a:prstGeom prst="rect">
            <a:avLst/>
          </a:prstGeom>
          <a:solidFill>
            <a:srgbClr val="F5F7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51206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E79"/>
                </a:solidFill>
              </a:defRPr>
            </a:pPr>
            <a:r>
              <a:t>71.9%  –  Defect Concentration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Surface scratches &amp; dimensional errors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DS SPRINT 2026 | CHALLENGE CH24</a:t>
            </a:r>
          </a:p>
          <a:p>
            <a:pPr>
              <a:defRPr sz="2200" b="1">
                <a:solidFill>
                  <a:srgbClr val="1F4E79"/>
                </a:solidFill>
              </a:defRPr>
            </a:pPr>
            <a:r>
              <a:t>Data Cleaning &amp; Resolving the 5 Quality Conditions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5120640" cy="1417320"/>
          </a:xfrm>
          <a:prstGeom prst="rect">
            <a:avLst/>
          </a:prstGeom>
          <a:solidFill>
            <a:srgbClr val="F5F7FA"/>
          </a:solidFill>
          <a:ln>
            <a:solidFill>
              <a:srgbClr val="2B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1. Duplicate Batches</a:t>
            </a:r>
          </a:p>
          <a:p>
            <a:pPr>
              <a:defRPr sz="1050">
                <a:solidFill>
                  <a:srgbClr val="323232"/>
                </a:solidFill>
              </a:defRPr>
            </a:pPr>
            <a:r>
              <a:t>Detected 30 duplicated batch records in production.csv. Applied subset deduplication on batch_id to prevent inflated defect frequencies.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5120640" cy="1417320"/>
          </a:xfrm>
          <a:prstGeom prst="rect">
            <a:avLst/>
          </a:prstGeom>
          <a:solidFill>
            <a:srgbClr val="F5F7FA"/>
          </a:solidFill>
          <a:ln>
            <a:solidFill>
              <a:srgbClr val="2B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7548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2. Inconsistent Defect Labels</a:t>
            </a:r>
          </a:p>
          <a:p>
            <a:pPr>
              <a:defRPr sz="1050">
                <a:solidFill>
                  <a:srgbClr val="323232"/>
                </a:solidFill>
              </a:defRPr>
            </a:pPr>
            <a:r>
              <a:t>Harmonized 23 noisy textual variations (e.g., 'surface_scratch', 'SCRATCH', 'hairline_crack') into 5 standardized taxonomies.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63240"/>
            <a:ext cx="5120640" cy="1417320"/>
          </a:xfrm>
          <a:prstGeom prst="rect">
            <a:avLst/>
          </a:prstGeom>
          <a:solidFill>
            <a:srgbClr val="F5F7FA"/>
          </a:solidFill>
          <a:ln>
            <a:solidFill>
              <a:srgbClr val="2B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47548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3. Extreme Sensor Values</a:t>
            </a:r>
          </a:p>
          <a:p>
            <a:pPr>
              <a:defRPr sz="1050">
                <a:solidFill>
                  <a:srgbClr val="323232"/>
                </a:solidFill>
              </a:defRPr>
            </a:pPr>
            <a:r>
              <a:t>Screened physical impossibility limits: Temp &lt;100°C or &gt;400°C, Pressure &lt;2.0 or &gt;15.0 Bar. Flagged sensor glitch outliers.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063240"/>
            <a:ext cx="5120640" cy="1417320"/>
          </a:xfrm>
          <a:prstGeom prst="rect">
            <a:avLst/>
          </a:prstGeom>
          <a:solidFill>
            <a:srgbClr val="F5F7FA"/>
          </a:solidFill>
          <a:ln>
            <a:solidFill>
              <a:srgbClr val="2B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154680"/>
            <a:ext cx="47548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4. Missing Process Readings</a:t>
            </a:r>
          </a:p>
          <a:p>
            <a:pPr>
              <a:defRPr sz="1050">
                <a:solidFill>
                  <a:srgbClr val="323232"/>
                </a:solidFill>
              </a:defRPr>
            </a:pPr>
            <a:r>
              <a:t>Handled null sensor readings across temperature, pressure, and speed via robust median imputation grouped by operating conditions.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663440"/>
            <a:ext cx="10607040" cy="1280160"/>
          </a:xfrm>
          <a:prstGeom prst="rect">
            <a:avLst/>
          </a:prstGeom>
          <a:solidFill>
            <a:srgbClr val="F5F7FA"/>
          </a:solidFill>
          <a:ln>
            <a:solidFill>
              <a:srgbClr val="2B5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54879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5. Unmatched Material Lots</a:t>
            </a:r>
          </a:p>
          <a:p>
            <a:pPr>
              <a:defRPr sz="1050">
                <a:solidFill>
                  <a:srgbClr val="323232"/>
                </a:solidFill>
              </a:defRPr>
            </a:pPr>
            <a:r>
              <a:t>Reconciled 35 orphan batches lacking direct material vendor keys by applying outer join fallback with benchmark impurity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DS SPRINT 2026 | CHALLENGE CH24</a:t>
            </a:r>
          </a:p>
          <a:p>
            <a:pPr>
              <a:defRPr sz="2200" b="1">
                <a:solidFill>
                  <a:srgbClr val="1F4E79"/>
                </a:solidFill>
              </a:defRPr>
            </a:pPr>
            <a:r>
              <a:t>Finding 1: Line 3 Disparity &amp; Machine Aging Bottleneck</a:t>
            </a:r>
          </a:p>
        </p:txBody>
      </p:sp>
      <p:pic>
        <p:nvPicPr>
          <p:cNvPr id="3" name="Picture 2" descr="01_defect_rate_by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035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936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E79"/>
                </a:solidFill>
              </a:defRPr>
            </a:pPr>
            <a:r>
              <a:t>Key Observations &amp; Evidence:</a:t>
            </a:r>
          </a:p>
          <a:p>
            <a:pPr>
              <a:spcBef>
                <a:spcPts val="800"/>
              </a:spcBef>
              <a:defRPr b="1" sz="1150">
                <a:solidFill>
                  <a:srgbClr val="323232"/>
                </a:solidFill>
              </a:defRPr>
            </a:pPr>
            <a:r>
              <a:t>• Severe Line Variance: </a:t>
            </a:r>
            <a:r>
              <a:rPr b="0"/>
              <a:t>Line 3 suffers a 10.16% defect rate, compared to just 4.36% on Line 1—representing a 2.33x higher defect incidence.</a:t>
            </a:r>
          </a:p>
          <a:p>
            <a:pPr>
              <a:spcBef>
                <a:spcPts val="800"/>
              </a:spcBef>
              <a:defRPr b="1" sz="1150">
                <a:solidFill>
                  <a:srgbClr val="323232"/>
                </a:solidFill>
              </a:defRPr>
            </a:pPr>
            <a:r>
              <a:t>• Machine Age Correlation: </a:t>
            </a:r>
            <a:r>
              <a:rPr b="0"/>
              <a:t>Line 3 is primarily populated by machines with &gt;5 Years operating life (MCH_03, MCH_07, MCH_11) averaging over 6,500 operating hours.</a:t>
            </a:r>
          </a:p>
          <a:p>
            <a:pPr>
              <a:spcBef>
                <a:spcPts val="800"/>
              </a:spcBef>
              <a:defRPr b="1" sz="1150">
                <a:solidFill>
                  <a:srgbClr val="323232"/>
                </a:solidFill>
              </a:defRPr>
            </a:pPr>
            <a:r>
              <a:t>• Mechanical Wear: </a:t>
            </a:r>
            <a:r>
              <a:rPr b="0"/>
              <a:t>Machines in the '&gt;5 Years' age band suffer an average defect rate of 9.97% vs 4.87% for machines younger than 2 years.</a:t>
            </a:r>
          </a:p>
          <a:p>
            <a:pPr>
              <a:spcBef>
                <a:spcPts val="800"/>
              </a:spcBef>
              <a:defRPr b="1" sz="1150">
                <a:solidFill>
                  <a:srgbClr val="323232"/>
                </a:solidFill>
              </a:defRPr>
            </a:pPr>
            <a:r>
              <a:t>• Action Required: </a:t>
            </a:r>
            <a:r>
              <a:rPr b="0"/>
              <a:t>Urgent mechanical overhaul and recalibration of Line 3 spindles, bearings, and hydraulic seals.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DS SPRINT 2026 | CHALLENGE CH24</a:t>
            </a:r>
          </a:p>
          <a:p>
            <a:pPr>
              <a:defRPr sz="2200" b="1">
                <a:solidFill>
                  <a:srgbClr val="1F4E79"/>
                </a:solidFill>
              </a:defRPr>
            </a:pPr>
            <a:r>
              <a:t>Finding 2: Defect Pareto Distribution (80/20 Rule)</a:t>
            </a:r>
          </a:p>
        </p:txBody>
      </p:sp>
      <p:pic>
        <p:nvPicPr>
          <p:cNvPr id="3" name="Picture 2" descr="02_defect_type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486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9224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E79"/>
                </a:solidFill>
              </a:defRPr>
            </a:pPr>
            <a:r>
              <a:t>Pareto Breakdown &amp; Root Mechanisms:</a:t>
            </a:r>
          </a:p>
          <a:p>
            <a:pPr>
              <a:spcBef>
                <a:spcPts val="800"/>
              </a:spcBef>
              <a:defRPr b="1" sz="1150">
                <a:solidFill>
                  <a:srgbClr val="323232"/>
                </a:solidFill>
              </a:defRPr>
            </a:pPr>
            <a:r>
              <a:t>• 71.9% Root Cause Concentration: </a:t>
            </a:r>
            <a:r>
              <a:rPr b="0"/>
              <a:t>Surface Scratches (42.4%, 530 incidents) and Dimensional Errors (29.5%, 369 incidents) constitute nearly three quarters of all quality defects.</a:t>
            </a:r>
          </a:p>
          <a:p>
            <a:pPr>
              <a:spcBef>
                <a:spcPts val="800"/>
              </a:spcBef>
              <a:defRPr b="1" sz="1150">
                <a:solidFill>
                  <a:srgbClr val="323232"/>
                </a:solidFill>
              </a:defRPr>
            </a:pPr>
            <a:r>
              <a:t>• Surface Scratch Mechanism: </a:t>
            </a:r>
            <a:r>
              <a:rPr b="0"/>
              <a:t>Driven by micro-chipping in worn cutting bits and excessive spindle vibration under high feed speeds (&gt;1,600 RPM).</a:t>
            </a:r>
          </a:p>
          <a:p>
            <a:pPr>
              <a:spcBef>
                <a:spcPts val="800"/>
              </a:spcBef>
              <a:defRPr b="1" sz="1150">
                <a:solidFill>
                  <a:srgbClr val="323232"/>
                </a:solidFill>
              </a:defRPr>
            </a:pPr>
            <a:r>
              <a:t>• Dimensional Error Mechanism: </a:t>
            </a:r>
            <a:r>
              <a:rPr b="0"/>
              <a:t>Thermal expansion drift during prolonged operations combined with sensor calibration offsets in high-hour machines.</a:t>
            </a:r>
          </a:p>
          <a:p>
            <a:pPr>
              <a:spcBef>
                <a:spcPts val="800"/>
              </a:spcBef>
              <a:defRPr b="1" sz="1150">
                <a:solidFill>
                  <a:srgbClr val="323232"/>
                </a:solidFill>
              </a:defRPr>
            </a:pPr>
            <a:r>
              <a:t>• High ROI Focus: </a:t>
            </a:r>
            <a:r>
              <a:rPr b="0"/>
              <a:t>Eliminating tooling wear and implementing automated thermal offset compensation will address 72% of total factory defects.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DS SPRINT 2026 | CHALLENGE CH24</a:t>
            </a:r>
          </a:p>
          <a:p>
            <a:pPr>
              <a:defRPr sz="2200" b="1">
                <a:solidFill>
                  <a:srgbClr val="1F4E79"/>
                </a:solidFill>
              </a:defRPr>
            </a:pPr>
            <a:r>
              <a:t>Finding 3: The Night Shift Quality &amp; Sensor Degradation</a:t>
            </a:r>
          </a:p>
        </p:txBody>
      </p:sp>
      <p:pic>
        <p:nvPicPr>
          <p:cNvPr id="3" name="Picture 2" descr="03_shif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035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936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E79"/>
                </a:solidFill>
              </a:defRPr>
            </a:pPr>
            <a:r>
              <a:t>Operational Insights &amp; Shift Dynamics:</a:t>
            </a:r>
          </a:p>
          <a:p>
            <a:pPr>
              <a:spcBef>
                <a:spcPts val="800"/>
              </a:spcBef>
              <a:defRPr b="1" sz="1150">
                <a:solidFill>
                  <a:srgbClr val="323232"/>
                </a:solidFill>
              </a:defRPr>
            </a:pPr>
            <a:r>
              <a:t>• Night Shift Spike (Shift C): </a:t>
            </a:r>
            <a:r>
              <a:rPr b="0"/>
              <a:t>Shift C exhibits a defect rate of 9.38%, sharply higher than Shift A (5.25%) and Shift B (6.42%)—a 79% relative increase.</a:t>
            </a:r>
          </a:p>
          <a:p>
            <a:pPr>
              <a:spcBef>
                <a:spcPts val="800"/>
              </a:spcBef>
              <a:defRPr b="1" sz="1150">
                <a:solidFill>
                  <a:srgbClr val="323232"/>
                </a:solidFill>
              </a:defRPr>
            </a:pPr>
            <a:r>
              <a:t>• Thermal Drift &amp; Instability: </a:t>
            </a:r>
            <a:r>
              <a:rPr b="0"/>
              <a:t>Night shift operating temperatures show elevated mean drift (212.4°C vs setpoint 205.0°C) with lower hydraulic pressure (5.67 Bar vs 5.86 Bar).</a:t>
            </a:r>
          </a:p>
          <a:p>
            <a:pPr>
              <a:spcBef>
                <a:spcPts val="800"/>
              </a:spcBef>
              <a:defRPr b="1" sz="1150">
                <a:solidFill>
                  <a:srgbClr val="323232"/>
                </a:solidFill>
              </a:defRPr>
            </a:pPr>
            <a:r>
              <a:t>• Supervisory Factor: </a:t>
            </a:r>
            <a:r>
              <a:rPr b="0"/>
              <a:t>Reduced supervisory checks and longer latency between initial sensor drift and operator intervention during nocturnal cycles.</a:t>
            </a:r>
          </a:p>
          <a:p>
            <a:pPr>
              <a:spcBef>
                <a:spcPts val="800"/>
              </a:spcBef>
              <a:defRPr b="1" sz="1150">
                <a:solidFill>
                  <a:srgbClr val="323232"/>
                </a:solidFill>
              </a:defRPr>
            </a:pPr>
            <a:r>
              <a:t>• Standard Operating Procedure (SOP): </a:t>
            </a:r>
            <a:r>
              <a:rPr b="0"/>
              <a:t>Deploy automated early-warning thermal drift alerts and mandate mid-shift tooling inspections at 02:00 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DS SPRINT 2026 | CHALLENGE CH24</a:t>
            </a:r>
          </a:p>
          <a:p>
            <a:pPr>
              <a:defRPr sz="2200" b="1">
                <a:solidFill>
                  <a:srgbClr val="1F4E79"/>
                </a:solidFill>
              </a:defRPr>
            </a:pPr>
            <a:r>
              <a:t>ML Intelligence Layer: Defect Prediction Model</a:t>
            </a:r>
          </a:p>
        </p:txBody>
      </p:sp>
      <p:pic>
        <p:nvPicPr>
          <p:cNvPr id="3" name="Picture 2" descr="08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486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9224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E79"/>
                </a:solidFill>
              </a:defRPr>
            </a:pPr>
            <a:r>
              <a:t>Model Architecture &amp; Performance:</a:t>
            </a:r>
          </a:p>
          <a:p>
            <a:pPr>
              <a:spcBef>
                <a:spcPts val="800"/>
              </a:spcBef>
              <a:defRPr b="1" sz="1150">
                <a:solidFill>
                  <a:srgbClr val="323232"/>
                </a:solidFill>
              </a:defRPr>
            </a:pPr>
            <a:r>
              <a:t>• Algorithm Chosen: </a:t>
            </a:r>
            <a:r>
              <a:rPr b="0"/>
              <a:t>Random Forest Classifier (150 trees, max_depth=8). Chosen for robust non-linear handling of interaction effects without overfitting.</a:t>
            </a:r>
          </a:p>
          <a:p>
            <a:pPr>
              <a:spcBef>
                <a:spcPts val="800"/>
              </a:spcBef>
              <a:defRPr b="1" sz="1150">
                <a:solidFill>
                  <a:srgbClr val="323232"/>
                </a:solidFill>
              </a:defRPr>
            </a:pPr>
            <a:r>
              <a:t>• Classification Accuracy: </a:t>
            </a:r>
            <a:r>
              <a:rPr b="0"/>
              <a:t>86.40% on holdout validation data (Precision: 88.89%, Recall: 83.20%, F1-Score: 0.8595).</a:t>
            </a:r>
          </a:p>
          <a:p>
            <a:pPr>
              <a:spcBef>
                <a:spcPts val="800"/>
              </a:spcBef>
              <a:defRPr b="1" sz="1150">
                <a:solidFill>
                  <a:srgbClr val="323232"/>
                </a:solidFill>
              </a:defRPr>
            </a:pPr>
            <a:r>
              <a:t>• Discriminative Power: </a:t>
            </a:r>
            <a:r>
              <a:rPr b="0"/>
              <a:t>ROC-AUC Score of 0.9480, demonstrating exceptional capability to flag defect-prone batches prior to final packaging.</a:t>
            </a:r>
          </a:p>
          <a:p>
            <a:pPr>
              <a:spcBef>
                <a:spcPts val="800"/>
              </a:spcBef>
              <a:defRPr b="1" sz="1150">
                <a:solidFill>
                  <a:srgbClr val="323232"/>
                </a:solidFill>
              </a:defRPr>
            </a:pPr>
            <a:r>
              <a:t>• Leading Predictors: </a:t>
            </a:r>
            <a:r>
              <a:rPr b="0"/>
              <a:t>Machine wear index (16.7%), operating hours (14.9%), machine age band (13.4%), line allocation (13.4%), and thermal deviation (4.8%).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DS SPRINT 2026 | CHALLENGE CH24</a:t>
            </a:r>
          </a:p>
          <a:p>
            <a:pPr>
              <a:defRPr sz="2200" b="1">
                <a:solidFill>
                  <a:srgbClr val="1F4E79"/>
                </a:solidFill>
              </a:defRPr>
            </a:pPr>
            <a:r>
              <a:t>Strategic Quality Improvement Priorities &amp; ROI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698480" cy="1417320"/>
          </a:xfrm>
          <a:prstGeom prst="rect">
            <a:avLst/>
          </a:prstGeom>
          <a:solidFill>
            <a:srgbClr val="F5F7F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Priority 1: Preventive Maintenance for Aging Machines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Immediately overhaul Line 3 machines (MCH_03, MCH_07, MCH_11). Set an automated operating-hour threshold at 4,500 hours triggering bearing replacements and spindle re-alignment.</a:t>
            </a:r>
          </a:p>
          <a:p>
            <a:pPr>
              <a:defRPr sz="1100" b="1">
                <a:solidFill>
                  <a:srgbClr val="2B5C8F"/>
                </a:solidFill>
              </a:defRPr>
            </a:pPr>
            <a:r>
              <a:t>Target Outcome: Expected Impact: -40% defect reduction on Line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063240"/>
            <a:ext cx="10698480" cy="1417320"/>
          </a:xfrm>
          <a:prstGeom prst="rect">
            <a:avLst/>
          </a:prstGeom>
          <a:solidFill>
            <a:srgbClr val="F5F7F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15468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Priority 2: Automated Night Shift Thermal &amp; Speed Controls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Install IoT edge alarms to alert operators when temperature deviates beyond ±5°C from 205°C setpoint, and mandate standardized mid-shift calibration routines during Shift C.</a:t>
            </a:r>
          </a:p>
          <a:p>
            <a:pPr>
              <a:defRPr sz="1100" b="1">
                <a:solidFill>
                  <a:srgbClr val="2B5C8F"/>
                </a:solidFill>
              </a:defRPr>
            </a:pPr>
            <a:r>
              <a:t>Target Outcome: Expected Impact: -35% defect reduction in Shift C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663440"/>
            <a:ext cx="10698480" cy="1417320"/>
          </a:xfrm>
          <a:prstGeom prst="rect">
            <a:avLst/>
          </a:prstGeom>
          <a:solidFill>
            <a:srgbClr val="F5F7F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54879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Priority 3: Raw Material Supplier Grade Standardization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Re-negotiate procurement with Supplier Gamma and Delta to eliminate Grade C high-impurity lots (&gt;1.2% impurity), establishing an ISO-certified minimum tensile standard of 480 MPa.</a:t>
            </a:r>
          </a:p>
          <a:p>
            <a:pPr>
              <a:defRPr sz="1100" b="1">
                <a:solidFill>
                  <a:srgbClr val="2B5C8F"/>
                </a:solidFill>
              </a:defRPr>
            </a:pPr>
            <a:r>
              <a:t>Target Outcome: Expected Impact: -18% defect reduction across all lines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DS SPRINT 2026 | CHALLENGE CH24</a:t>
            </a:r>
          </a:p>
          <a:p>
            <a:pPr>
              <a:defRPr sz="2200" b="1">
                <a:solidFill>
                  <a:srgbClr val="1F4E79"/>
                </a:solidFill>
              </a:defRPr>
            </a:pPr>
            <a:r>
              <a:t>Conclusion &amp; Executive Pitch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Summary of Final Outcomes:</a:t>
            </a:r>
          </a:p>
          <a:p>
            <a:pPr>
              <a:spcBef>
                <a:spcPts val="1200"/>
              </a:spcBef>
              <a:defRPr b="1" sz="1250">
                <a:solidFill>
                  <a:srgbClr val="323232"/>
                </a:solidFill>
              </a:defRPr>
            </a:pPr>
            <a:r>
              <a:t>• Unified Manufacturing Intelligence: </a:t>
            </a:r>
            <a:r>
              <a:rPr b="0"/>
              <a:t>Successfully integrated 5 disparate data sources, resolved 30 duplicate batches, harmonized defect naming, and eliminated sensor anomalies across 1,250 production runs.</a:t>
            </a:r>
          </a:p>
          <a:p>
            <a:pPr>
              <a:spcBef>
                <a:spcPts val="1200"/>
              </a:spcBef>
              <a:defRPr b="1" sz="1250">
                <a:solidFill>
                  <a:srgbClr val="323232"/>
                </a:solidFill>
              </a:defRPr>
            </a:pPr>
            <a:r>
              <a:t>• Clear Root Cause Proven: </a:t>
            </a:r>
            <a:r>
              <a:rPr b="0"/>
              <a:t>High defect levels are driven by machine mechanical wear (&gt;4,500 hrs on Line 3), nocturnal process instability during Shift C, and high-impurity Grade C materials.</a:t>
            </a:r>
          </a:p>
          <a:p>
            <a:pPr>
              <a:spcBef>
                <a:spcPts val="1200"/>
              </a:spcBef>
              <a:defRPr b="1" sz="1250">
                <a:solidFill>
                  <a:srgbClr val="323232"/>
                </a:solidFill>
              </a:defRPr>
            </a:pPr>
            <a:r>
              <a:t>• Predictive Production Deployment: </a:t>
            </a:r>
            <a:r>
              <a:rPr b="0"/>
              <a:t>The trained Random Forest model predicts high-risk defect batches with 86.4% accuracy and 0.948 AUC, enabling proactive intervention before costly batch scrapping occurs.</a:t>
            </a:r>
          </a:p>
          <a:p>
            <a:pPr>
              <a:spcBef>
                <a:spcPts val="1200"/>
              </a:spcBef>
              <a:defRPr b="1" sz="1250">
                <a:solidFill>
                  <a:srgbClr val="323232"/>
                </a:solidFill>
              </a:defRPr>
            </a:pPr>
            <a:r>
              <a:t>• Projected Financial Impact: </a:t>
            </a:r>
            <a:r>
              <a:rPr b="0"/>
              <a:t>Implementing the 3 prioritized recommendations will decrease factory defect rates from 7.02% to below 3.50%, generating an estimated $420,000 in annual scrap savings.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